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Training</c:v>
                </c:pt>
              </c:strCache>
            </c:strRef>
          </c:tx>
          <c:spPr>
            <a:ln w="31750"/>
          </c:spPr>
          <c:marker>
            <c:symbol val="none"/>
          </c:marker>
          <c:cat>
            <c:strRef>
              <c:f>Sheet1!$A$2:$A$9</c:f>
              <c:strCache>
                <c:ptCount val="8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0.92</c:v>
                </c:pt>
                <c:pt idx="1">
                  <c:v>0.95</c:v>
                </c:pt>
                <c:pt idx="2">
                  <c:v>0.96</c:v>
                </c:pt>
                <c:pt idx="3">
                  <c:v>0.96</c:v>
                </c:pt>
                <c:pt idx="4">
                  <c:v>0.965</c:v>
                </c:pt>
                <c:pt idx="5">
                  <c:v>0.97</c:v>
                </c:pt>
                <c:pt idx="6">
                  <c:v>0.975</c:v>
                </c:pt>
                <c:pt idx="7">
                  <c:v>0.98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Validation</c:v>
                </c:pt>
              </c:strCache>
            </c:strRef>
          </c:tx>
          <c:spPr>
            <a:ln w="31750"/>
          </c:spPr>
          <c:marker>
            <c:symbol val="none"/>
          </c:marker>
          <c:cat>
            <c:strRef>
              <c:f>Sheet1!$A$2:$A$9</c:f>
              <c:strCache>
                <c:ptCount val="8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</c:strCache>
            </c: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0.86</c:v>
                </c:pt>
                <c:pt idx="1">
                  <c:v>0.81</c:v>
                </c:pt>
                <c:pt idx="2">
                  <c:v>0.84</c:v>
                </c:pt>
                <c:pt idx="3">
                  <c:v>0.82</c:v>
                </c:pt>
                <c:pt idx="4">
                  <c:v>0.83</c:v>
                </c:pt>
                <c:pt idx="5">
                  <c:v>0.84</c:v>
                </c:pt>
                <c:pt idx="6">
                  <c:v>0.83</c:v>
                </c:pt>
                <c:pt idx="7">
                  <c:v>0.84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ax val="1.0"/>
          <c:min val="0.75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9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Test accuracy (%)</c:v>
                </c:pt>
              </c:strCache>
            </c:strRef>
          </c:tx>
          <c:spPr>
            <a:solidFill>
              <a:srgbClr val="4C7BFF"/>
            </a:solidFill>
          </c:spPr>
          <c:cat>
            <c:strRef>
              <c:f>Sheet1!$A$2:$A$6</c:f>
              <c:strCache>
                <c:ptCount val="5"/>
                <c:pt idx="0">
                  <c:v>Baseline CNN</c:v>
                </c:pt>
                <c:pt idx="1">
                  <c:v>Augmentation CNN</c:v>
                </c:pt>
                <c:pt idx="2">
                  <c:v>BatchNorm CNN</c:v>
                </c:pt>
                <c:pt idx="3">
                  <c:v>ResNet50</c:v>
                </c:pt>
                <c:pt idx="4">
                  <c:v>DenseNet121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69.87</c:v>
                </c:pt>
                <c:pt idx="1">
                  <c:v>77.88</c:v>
                </c:pt>
                <c:pt idx="2">
                  <c:v>62.5</c:v>
                </c:pt>
                <c:pt idx="3">
                  <c:v>62.98</c:v>
                </c:pt>
                <c:pt idx="4">
                  <c:v>86.38</c:v>
                </c:pt>
              </c:numCache>
            </c:numRef>
          </c:val>
        </c:ser>
        <c:dLbls>
          <c:txPr>
            <a:bodyPr/>
            <a:lstStyle/>
            <a:p>
              <a:pPr>
                <a:defRPr sz="9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85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068027336"/>
        <c:crosses val="autoZero"/>
        <c:majorUnit val="20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38D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109960" y="384048"/>
            <a:ext cx="502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1">
                <a:solidFill>
                  <a:srgbClr val="A4B5C9"/>
                </a:solidFill>
                <a:latin typeface="Aptos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43000"/>
            <a:ext cx="6400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38D3E8"/>
                </a:solidFill>
                <a:latin typeface="Aptos"/>
              </a:rPr>
              <a:t>DIAGNOSTIC IMAGE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27632"/>
            <a:ext cx="98755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>
                <a:solidFill>
                  <a:srgbClr val="F2F6FA"/>
                </a:solidFill>
                <a:latin typeface="Aptos Display"/>
              </a:rPr>
              <a:t>Classification using CNNs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242316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A4B5C9"/>
                </a:solidFill>
                <a:latin typeface="Aptos"/>
              </a:rPr>
              <a:t>Chest X-ray classification • Normal vs Pneumonia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3886200"/>
            <a:ext cx="676656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F2F6FA"/>
                </a:solidFill>
                <a:latin typeface="Aptos"/>
              </a:rPr>
              <a:t>A focused study of preprocessing, CNN design, controlled experiments and transfer learning.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5010912"/>
            <a:ext cx="4114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A4B5C9"/>
                </a:solidFill>
                <a:latin typeface="Aptos"/>
              </a:rPr>
              <a:t>TWO-CLASS IMAGE CLASSIFICATION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92440" y="1170432"/>
            <a:ext cx="3337560" cy="3977639"/>
          </a:xfrm>
          <a:prstGeom prst="roundRect">
            <a:avLst/>
          </a:prstGeom>
          <a:solidFill>
            <a:srgbClr val="18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80" y="1508760"/>
            <a:ext cx="26517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A4B5C9"/>
                </a:solidFill>
                <a:latin typeface="Aptos"/>
              </a:rPr>
              <a:t>CHEST X-RAY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503920" y="1938528"/>
            <a:ext cx="2514600" cy="2606040"/>
          </a:xfrm>
          <a:prstGeom prst="roundRect">
            <a:avLst/>
          </a:prstGeom>
          <a:solidFill>
            <a:srgbClr val="080F1A"/>
          </a:solidFill>
          <a:ln w="12700">
            <a:solidFill>
              <a:srgbClr val="2E43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823960" y="2395728"/>
            <a:ext cx="713232" cy="1572768"/>
          </a:xfrm>
          <a:prstGeom prst="ellipse">
            <a:avLst/>
          </a:prstGeom>
          <a:solidFill>
            <a:srgbClr val="2D3D4F"/>
          </a:solidFill>
          <a:ln>
            <a:solidFill>
              <a:srgbClr val="4A5D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9802368" y="2395728"/>
            <a:ext cx="713232" cy="1572768"/>
          </a:xfrm>
          <a:prstGeom prst="ellipse">
            <a:avLst/>
          </a:prstGeom>
          <a:solidFill>
            <a:srgbClr val="2D3D4F"/>
          </a:solidFill>
          <a:ln>
            <a:solidFill>
              <a:srgbClr val="4A5D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528048" y="2331720"/>
            <a:ext cx="164592" cy="1874519"/>
          </a:xfrm>
          <a:prstGeom prst="rect">
            <a:avLst/>
          </a:prstGeom>
          <a:solidFill>
            <a:srgbClr val="5A6E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0" y="4160520"/>
            <a:ext cx="960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>
                <a:solidFill>
                  <a:srgbClr val="41D296"/>
                </a:solidFill>
                <a:latin typeface="Aptos"/>
              </a:rPr>
              <a:t>NORMAL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738360" y="4160520"/>
            <a:ext cx="960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>
                <a:solidFill>
                  <a:srgbClr val="F7A648"/>
                </a:solidFill>
                <a:latin typeface="Aptos"/>
              </a:rPr>
              <a:t>PNEUMONIA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6492240"/>
            <a:ext cx="7315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A4B5C9"/>
                </a:solidFill>
                <a:latin typeface="Aptos"/>
              </a:rPr>
              <a:t>Team 2  •  Diagnostic Image Classification using CNNs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38D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4572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38D3E8"/>
                </a:solidFill>
                <a:latin typeface="Aptos"/>
              </a:rPr>
              <a:t>01  •  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"/>
            <a:ext cx="10515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2F6FA"/>
                </a:solidFill>
                <a:latin typeface="Aptos Display"/>
              </a:rPr>
              <a:t>Dataset &amp; preprocessing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384048"/>
            <a:ext cx="502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1">
                <a:solidFill>
                  <a:srgbClr val="A4B5C9"/>
                </a:solidFill>
                <a:latin typeface="Aptos"/>
              </a:rPr>
              <a:t>02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508760"/>
            <a:ext cx="2331720" cy="1261872"/>
          </a:xfrm>
          <a:prstGeom prst="roundRect">
            <a:avLst/>
          </a:prstGeom>
          <a:solidFill>
            <a:srgbClr val="1321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7" y="1664208"/>
            <a:ext cx="19202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A4B5C9"/>
                </a:solidFill>
                <a:latin typeface="Aptos"/>
              </a:rPr>
              <a:t>TRAINING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7" y="1920240"/>
            <a:ext cx="19202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38D3E8"/>
                </a:solidFill>
                <a:latin typeface="Aptos Display"/>
              </a:rPr>
              <a:t>5,232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2404872"/>
            <a:ext cx="19202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A4B5C9"/>
                </a:solidFill>
                <a:latin typeface="Aptos"/>
              </a:rPr>
              <a:t>images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154680" y="1508760"/>
            <a:ext cx="2331720" cy="1261872"/>
          </a:xfrm>
          <a:prstGeom prst="roundRect">
            <a:avLst/>
          </a:prstGeom>
          <a:solidFill>
            <a:srgbClr val="1321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55848" y="1664208"/>
            <a:ext cx="19202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A4B5C9"/>
                </a:solidFill>
                <a:latin typeface="Aptos"/>
              </a:rPr>
              <a:t>TEST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55848" y="1920240"/>
            <a:ext cx="19202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4C7BFF"/>
                </a:solidFill>
                <a:latin typeface="Aptos Display"/>
              </a:rPr>
              <a:t>624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55848" y="2404872"/>
            <a:ext cx="19202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A4B5C9"/>
                </a:solidFill>
                <a:latin typeface="Aptos"/>
              </a:rPr>
              <a:t>images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0" y="1508760"/>
            <a:ext cx="2331720" cy="1261872"/>
          </a:xfrm>
          <a:prstGeom prst="roundRect">
            <a:avLst/>
          </a:prstGeom>
          <a:solidFill>
            <a:srgbClr val="1321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870448" y="1664208"/>
            <a:ext cx="19202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A4B5C9"/>
                </a:solidFill>
                <a:latin typeface="Aptos"/>
              </a:rPr>
              <a:t>CLASSES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70448" y="1920240"/>
            <a:ext cx="19202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41D296"/>
                </a:solidFill>
                <a:latin typeface="Aptos Display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70448" y="2404872"/>
            <a:ext cx="19202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A4B5C9"/>
                </a:solidFill>
                <a:latin typeface="Aptos"/>
              </a:rPr>
              <a:t>Normal / Pneumonia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83879" y="1508760"/>
            <a:ext cx="2331720" cy="1261872"/>
          </a:xfrm>
          <a:prstGeom prst="roundRect">
            <a:avLst/>
          </a:prstGeom>
          <a:solidFill>
            <a:srgbClr val="1321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85048" y="1664208"/>
            <a:ext cx="19202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A4B5C9"/>
                </a:solidFill>
                <a:latin typeface="Aptos"/>
              </a:rPr>
              <a:t>INPUT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85048" y="1920240"/>
            <a:ext cx="19202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F7A648"/>
                </a:solidFill>
                <a:latin typeface="Aptos Display"/>
              </a:rPr>
              <a:t>224 × 224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85048" y="2404872"/>
            <a:ext cx="19202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A4B5C9"/>
                </a:solidFill>
                <a:latin typeface="Aptos"/>
              </a:rPr>
              <a:t>normalize /255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" y="3063240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A4B5C9"/>
                </a:solidFill>
                <a:latin typeface="Aptos"/>
              </a:rPr>
              <a:t>PREPROCESSING PIPELINE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85800" y="3520440"/>
            <a:ext cx="1874519" cy="960120"/>
          </a:xfrm>
          <a:prstGeom prst="roundRect">
            <a:avLst/>
          </a:prstGeom>
          <a:solidFill>
            <a:srgbClr val="182A43"/>
          </a:solidFill>
          <a:ln w="12700">
            <a:solidFill>
              <a:srgbClr val="2E43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5800" y="3794760"/>
            <a:ext cx="187451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F2F6FA"/>
                </a:solidFill>
                <a:latin typeface="Aptos"/>
              </a:rPr>
              <a:t>X-ray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2587752" y="3995928"/>
            <a:ext cx="310896" cy="0"/>
          </a:xfrm>
          <a:prstGeom prst="line">
            <a:avLst/>
          </a:prstGeom>
          <a:ln w="25400">
            <a:solidFill>
              <a:srgbClr val="2E43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2971800" y="3520440"/>
            <a:ext cx="1874519" cy="960120"/>
          </a:xfrm>
          <a:prstGeom prst="roundRect">
            <a:avLst/>
          </a:prstGeom>
          <a:solidFill>
            <a:srgbClr val="182A43"/>
          </a:solidFill>
          <a:ln w="12700">
            <a:solidFill>
              <a:srgbClr val="2E43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971800" y="3794760"/>
            <a:ext cx="187451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38D3E8"/>
                </a:solidFill>
                <a:latin typeface="Aptos"/>
              </a:rPr>
              <a:t>Resize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4873752" y="3995928"/>
            <a:ext cx="310896" cy="0"/>
          </a:xfrm>
          <a:prstGeom prst="line">
            <a:avLst/>
          </a:prstGeom>
          <a:ln w="25400">
            <a:solidFill>
              <a:srgbClr val="2E43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5257800" y="3520440"/>
            <a:ext cx="1874519" cy="960120"/>
          </a:xfrm>
          <a:prstGeom prst="roundRect">
            <a:avLst/>
          </a:prstGeom>
          <a:solidFill>
            <a:srgbClr val="182A43"/>
          </a:solidFill>
          <a:ln w="12700">
            <a:solidFill>
              <a:srgbClr val="2E43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257800" y="3794760"/>
            <a:ext cx="187451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41D296"/>
                </a:solidFill>
                <a:latin typeface="Aptos"/>
              </a:rPr>
              <a:t>Normalize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7159752" y="3995928"/>
            <a:ext cx="310896" cy="0"/>
          </a:xfrm>
          <a:prstGeom prst="line">
            <a:avLst/>
          </a:prstGeom>
          <a:ln w="25400">
            <a:solidFill>
              <a:srgbClr val="2E43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7543800" y="3520440"/>
            <a:ext cx="1874519" cy="960120"/>
          </a:xfrm>
          <a:prstGeom prst="roundRect">
            <a:avLst/>
          </a:prstGeom>
          <a:solidFill>
            <a:srgbClr val="182A43"/>
          </a:solidFill>
          <a:ln w="12700">
            <a:solidFill>
              <a:srgbClr val="2E43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543800" y="3794760"/>
            <a:ext cx="187451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F7A648"/>
                </a:solidFill>
                <a:latin typeface="Aptos"/>
              </a:rPr>
              <a:t>CNN input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646920" y="3246120"/>
            <a:ext cx="1737360" cy="1920240"/>
          </a:xfrm>
          <a:prstGeom prst="roundRect">
            <a:avLst/>
          </a:prstGeom>
          <a:solidFill>
            <a:srgbClr val="10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829800" y="3456432"/>
            <a:ext cx="1371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>
                <a:solidFill>
                  <a:srgbClr val="A4B5C9"/>
                </a:solidFill>
                <a:latin typeface="Aptos"/>
              </a:rPr>
              <a:t>TARGET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829800" y="3886200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41D296"/>
                </a:solidFill>
                <a:latin typeface="Aptos"/>
              </a:rPr>
              <a:t>NORMAL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829800" y="4315968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F7A648"/>
                </a:solidFill>
                <a:latin typeface="Aptos"/>
              </a:rPr>
              <a:t>PNEUMONIA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85800" y="5074920"/>
            <a:ext cx="8503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A4B5C9"/>
                </a:solidFill>
                <a:latin typeface="Aptos"/>
              </a:rPr>
              <a:t>The notebook reports 5,232 training and 624 test images across two classes.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94360" y="6492240"/>
            <a:ext cx="7315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A4B5C9"/>
                </a:solidFill>
                <a:latin typeface="Aptos"/>
              </a:rPr>
              <a:t>Team 2  •  Diagnostic Image Classification using CNNs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38D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4572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38D3E8"/>
                </a:solidFill>
                <a:latin typeface="Aptos"/>
              </a:rPr>
              <a:t>02  • 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"/>
            <a:ext cx="10515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2F6FA"/>
                </a:solidFill>
                <a:latin typeface="Aptos Display"/>
              </a:rPr>
              <a:t>Custom CNN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384048"/>
            <a:ext cx="502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1">
                <a:solidFill>
                  <a:srgbClr val="A4B5C9"/>
                </a:solidFill>
                <a:latin typeface="Aptos"/>
              </a:rPr>
              <a:t>03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828800"/>
            <a:ext cx="1298448" cy="1298448"/>
          </a:xfrm>
          <a:prstGeom prst="roundRect">
            <a:avLst/>
          </a:prstGeom>
          <a:solidFill>
            <a:srgbClr val="182A43"/>
          </a:solidFill>
          <a:ln w="12700">
            <a:solidFill>
              <a:srgbClr val="2E43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2029968"/>
            <a:ext cx="1298448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>
                <a:solidFill>
                  <a:srgbClr val="38D3E8"/>
                </a:solidFill>
                <a:latin typeface="Aptos"/>
              </a:rPr>
              <a:t>INPUT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2395728"/>
            <a:ext cx="1188719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1">
                <a:solidFill>
                  <a:srgbClr val="F2F6FA"/>
                </a:solidFill>
                <a:latin typeface="Aptos"/>
              </a:rPr>
              <a:t>224 × 224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975103" y="2478024"/>
            <a:ext cx="256032" cy="0"/>
          </a:xfrm>
          <a:prstGeom prst="line">
            <a:avLst/>
          </a:prstGeom>
          <a:ln w="25400">
            <a:solidFill>
              <a:srgbClr val="2E43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2267712" y="1828800"/>
            <a:ext cx="1536192" cy="1298448"/>
          </a:xfrm>
          <a:prstGeom prst="roundRect">
            <a:avLst/>
          </a:prstGeom>
          <a:solidFill>
            <a:srgbClr val="182A43"/>
          </a:solidFill>
          <a:ln w="12700">
            <a:solidFill>
              <a:srgbClr val="2E43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267712" y="2029968"/>
            <a:ext cx="1536192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>
                <a:solidFill>
                  <a:srgbClr val="4C7BFF"/>
                </a:solidFill>
                <a:latin typeface="Aptos"/>
              </a:rPr>
              <a:t>CONV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22576" y="2395728"/>
            <a:ext cx="1426464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1">
                <a:solidFill>
                  <a:srgbClr val="F2F6FA"/>
                </a:solidFill>
                <a:latin typeface="Aptos"/>
              </a:rPr>
              <a:t>32 filters • 3×3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822191" y="2478024"/>
            <a:ext cx="256033" cy="0"/>
          </a:xfrm>
          <a:prstGeom prst="line">
            <a:avLst/>
          </a:prstGeom>
          <a:ln w="25400">
            <a:solidFill>
              <a:srgbClr val="2E43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4114800" y="1828800"/>
            <a:ext cx="1298448" cy="1298448"/>
          </a:xfrm>
          <a:prstGeom prst="roundRect">
            <a:avLst/>
          </a:prstGeom>
          <a:solidFill>
            <a:srgbClr val="182A43"/>
          </a:solidFill>
          <a:ln w="12700">
            <a:solidFill>
              <a:srgbClr val="2E43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14800" y="2029968"/>
            <a:ext cx="1298448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>
                <a:solidFill>
                  <a:srgbClr val="41D296"/>
                </a:solidFill>
                <a:latin typeface="Aptos"/>
              </a:rPr>
              <a:t>POOL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69663" y="2395728"/>
            <a:ext cx="1188719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1">
                <a:solidFill>
                  <a:srgbClr val="F2F6FA"/>
                </a:solidFill>
                <a:latin typeface="Aptos"/>
              </a:rPr>
              <a:t>2×2 max pooling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5431536" y="2478024"/>
            <a:ext cx="256032" cy="0"/>
          </a:xfrm>
          <a:prstGeom prst="line">
            <a:avLst/>
          </a:prstGeom>
          <a:ln w="25400">
            <a:solidFill>
              <a:srgbClr val="2E43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5724144" y="1828800"/>
            <a:ext cx="1536192" cy="1298448"/>
          </a:xfrm>
          <a:prstGeom prst="roundRect">
            <a:avLst/>
          </a:prstGeom>
          <a:solidFill>
            <a:srgbClr val="182A43"/>
          </a:solidFill>
          <a:ln w="12700">
            <a:solidFill>
              <a:srgbClr val="2E43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724144" y="2029968"/>
            <a:ext cx="1536192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>
                <a:solidFill>
                  <a:srgbClr val="4C7BFF"/>
                </a:solidFill>
                <a:latin typeface="Aptos"/>
              </a:rPr>
              <a:t>CONV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779007" y="2395728"/>
            <a:ext cx="1426464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1">
                <a:solidFill>
                  <a:srgbClr val="F2F6FA"/>
                </a:solidFill>
                <a:latin typeface="Aptos"/>
              </a:rPr>
              <a:t>64 filters • 3×3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278623" y="2478024"/>
            <a:ext cx="256033" cy="0"/>
          </a:xfrm>
          <a:prstGeom prst="line">
            <a:avLst/>
          </a:prstGeom>
          <a:ln w="25400">
            <a:solidFill>
              <a:srgbClr val="2E43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7571231" y="1828800"/>
            <a:ext cx="1298448" cy="1298448"/>
          </a:xfrm>
          <a:prstGeom prst="roundRect">
            <a:avLst/>
          </a:prstGeom>
          <a:solidFill>
            <a:srgbClr val="182A43"/>
          </a:solidFill>
          <a:ln w="12700">
            <a:solidFill>
              <a:srgbClr val="2E43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571231" y="2029968"/>
            <a:ext cx="1298448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>
                <a:solidFill>
                  <a:srgbClr val="41D296"/>
                </a:solidFill>
                <a:latin typeface="Aptos"/>
              </a:rPr>
              <a:t>POOL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26096" y="2395728"/>
            <a:ext cx="1188719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1">
                <a:solidFill>
                  <a:srgbClr val="F2F6FA"/>
                </a:solidFill>
                <a:latin typeface="Aptos"/>
              </a:rPr>
              <a:t>2×2 max pooling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8887967" y="2478024"/>
            <a:ext cx="256033" cy="0"/>
          </a:xfrm>
          <a:prstGeom prst="line">
            <a:avLst/>
          </a:prstGeom>
          <a:ln w="25400">
            <a:solidFill>
              <a:srgbClr val="2E43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9180576" y="1828800"/>
            <a:ext cx="1536192" cy="1298448"/>
          </a:xfrm>
          <a:prstGeom prst="roundRect">
            <a:avLst/>
          </a:prstGeom>
          <a:solidFill>
            <a:srgbClr val="182A43"/>
          </a:solidFill>
          <a:ln w="12700">
            <a:solidFill>
              <a:srgbClr val="2E43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80576" y="2029968"/>
            <a:ext cx="1536192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>
                <a:solidFill>
                  <a:srgbClr val="F7A648"/>
                </a:solidFill>
                <a:latin typeface="Aptos"/>
              </a:rPr>
              <a:t>GAP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35440" y="2395728"/>
            <a:ext cx="1426464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1">
                <a:solidFill>
                  <a:srgbClr val="F2F6FA"/>
                </a:solidFill>
                <a:latin typeface="Aptos"/>
              </a:rPr>
              <a:t>Global Average Pooling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10735055" y="2478024"/>
            <a:ext cx="256033" cy="0"/>
          </a:xfrm>
          <a:prstGeom prst="line">
            <a:avLst/>
          </a:prstGeom>
          <a:ln w="25400">
            <a:solidFill>
              <a:srgbClr val="2E43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11027663" y="1828800"/>
            <a:ext cx="1298448" cy="1298448"/>
          </a:xfrm>
          <a:prstGeom prst="roundRect">
            <a:avLst/>
          </a:prstGeom>
          <a:solidFill>
            <a:srgbClr val="182A43"/>
          </a:solidFill>
          <a:ln w="12700">
            <a:solidFill>
              <a:srgbClr val="2E43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1027663" y="2029968"/>
            <a:ext cx="1298448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>
                <a:solidFill>
                  <a:srgbClr val="4C7BFF"/>
                </a:solidFill>
                <a:latin typeface="Aptos"/>
              </a:rPr>
              <a:t>DENSE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082528" y="2395728"/>
            <a:ext cx="1188719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1">
                <a:solidFill>
                  <a:srgbClr val="F2F6FA"/>
                </a:solidFill>
                <a:latin typeface="Aptos"/>
              </a:rPr>
              <a:t>128 • ReLU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12344399" y="2478024"/>
            <a:ext cx="256033" cy="0"/>
          </a:xfrm>
          <a:prstGeom prst="line">
            <a:avLst/>
          </a:prstGeom>
          <a:ln w="25400">
            <a:solidFill>
              <a:srgbClr val="2E43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12637007" y="1828800"/>
            <a:ext cx="1536192" cy="1298448"/>
          </a:xfrm>
          <a:prstGeom prst="roundRect">
            <a:avLst/>
          </a:prstGeom>
          <a:solidFill>
            <a:srgbClr val="182A43"/>
          </a:solidFill>
          <a:ln w="12700">
            <a:solidFill>
              <a:srgbClr val="2E43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2637007" y="2029968"/>
            <a:ext cx="1536192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>
                <a:solidFill>
                  <a:srgbClr val="38D3E8"/>
                </a:solidFill>
                <a:latin typeface="Aptos"/>
              </a:rPr>
              <a:t>OUTPUT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2691872" y="2395728"/>
            <a:ext cx="1426464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1">
                <a:solidFill>
                  <a:srgbClr val="F2F6FA"/>
                </a:solidFill>
                <a:latin typeface="Aptos"/>
              </a:rPr>
              <a:t>2 classes • Softmax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8368" y="3886200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A4B5C9"/>
                </a:solidFill>
                <a:latin typeface="Aptos"/>
              </a:rPr>
              <a:t>WHAT EACH STAGE DOES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58368" y="4315968"/>
            <a:ext cx="3383280" cy="1143000"/>
          </a:xfrm>
          <a:prstGeom prst="roundRect">
            <a:avLst/>
          </a:prstGeom>
          <a:solidFill>
            <a:srgbClr val="1321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68680" y="4517136"/>
            <a:ext cx="12344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4C7BFF"/>
                </a:solidFill>
                <a:latin typeface="Aptos"/>
              </a:rPr>
              <a:t>CONVOLUTION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956815" y="4489704"/>
            <a:ext cx="1874519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F2F6FA"/>
                </a:solidFill>
                <a:latin typeface="Aptos"/>
              </a:rPr>
              <a:t>Learns local visual features.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251960" y="4315968"/>
            <a:ext cx="3383280" cy="1143000"/>
          </a:xfrm>
          <a:prstGeom prst="roundRect">
            <a:avLst/>
          </a:prstGeom>
          <a:solidFill>
            <a:srgbClr val="1321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462272" y="4517136"/>
            <a:ext cx="12344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41D296"/>
                </a:solidFill>
                <a:latin typeface="Aptos"/>
              </a:rPr>
              <a:t>POOLING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550408" y="4489704"/>
            <a:ext cx="1874519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F2F6FA"/>
                </a:solidFill>
                <a:latin typeface="Aptos"/>
              </a:rPr>
              <a:t>Reduces spatial dimensions.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7845552" y="4315968"/>
            <a:ext cx="3383280" cy="1143000"/>
          </a:xfrm>
          <a:prstGeom prst="roundRect">
            <a:avLst/>
          </a:prstGeom>
          <a:solidFill>
            <a:srgbClr val="1321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055864" y="4517136"/>
            <a:ext cx="12344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F7A648"/>
                </a:solidFill>
                <a:latin typeface="Aptos"/>
              </a:rPr>
              <a:t>CLASSIFIER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144000" y="4489704"/>
            <a:ext cx="1874519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F2F6FA"/>
                </a:solidFill>
                <a:latin typeface="Aptos"/>
              </a:rPr>
              <a:t>Maps features to 2 classes.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94360" y="6492240"/>
            <a:ext cx="7315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A4B5C9"/>
                </a:solidFill>
                <a:latin typeface="Aptos"/>
              </a:rPr>
              <a:t>Team 2  •  Diagnostic Image Classification using CNNs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38D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4572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38D3E8"/>
                </a:solidFill>
                <a:latin typeface="Aptos"/>
              </a:rPr>
              <a:t>03  •  BASELINE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"/>
            <a:ext cx="10515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2F6FA"/>
                </a:solidFill>
                <a:latin typeface="Aptos Display"/>
              </a:rPr>
              <a:t>Baseline CNN establishes the benchmark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384048"/>
            <a:ext cx="502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1">
                <a:solidFill>
                  <a:srgbClr val="A4B5C9"/>
                </a:solidFill>
                <a:latin typeface="Aptos"/>
              </a:rPr>
              <a:t>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600200"/>
            <a:ext cx="42976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800" b="1">
                <a:solidFill>
                  <a:srgbClr val="38D3E8"/>
                </a:solidFill>
                <a:latin typeface="Aptos Display"/>
              </a:rPr>
              <a:t>69.87%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2487168"/>
            <a:ext cx="3200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A4B5C9"/>
                </a:solidFill>
                <a:latin typeface="Aptos"/>
              </a:rPr>
              <a:t>TEST ACCURACY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971800"/>
            <a:ext cx="47548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0">
                <a:solidFill>
                  <a:srgbClr val="F2F6FA"/>
                </a:solidFill>
                <a:latin typeface="Aptos"/>
              </a:rPr>
              <a:t>The custom CNN provides the reference point for every subsequent experiment.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06440" y="1481328"/>
            <a:ext cx="5486400" cy="4160520"/>
          </a:xfrm>
          <a:prstGeom prst="roundRect">
            <a:avLst/>
          </a:prstGeom>
          <a:solidFill>
            <a:srgbClr val="18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26480" y="1783080"/>
            <a:ext cx="25603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A4B5C9"/>
                </a:solidFill>
                <a:latin typeface="Aptos"/>
              </a:rPr>
              <a:t>BASELINE DESIGN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2423160"/>
            <a:ext cx="1005840" cy="731520"/>
          </a:xfrm>
          <a:prstGeom prst="roundRect">
            <a:avLst/>
          </a:prstGeom>
          <a:solidFill>
            <a:srgbClr val="132136"/>
          </a:solidFill>
          <a:ln w="12700">
            <a:solidFill>
              <a:srgbClr val="2E43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72200" y="2642616"/>
            <a:ext cx="10058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4C7BFF"/>
                </a:solidFill>
                <a:latin typeface="Aptos"/>
              </a:rPr>
              <a:t>Conv 32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205472" y="2788920"/>
            <a:ext cx="155447" cy="0"/>
          </a:xfrm>
          <a:prstGeom prst="line">
            <a:avLst/>
          </a:prstGeom>
          <a:ln w="25400">
            <a:solidFill>
              <a:srgbClr val="2E43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7424928" y="2423160"/>
            <a:ext cx="1005840" cy="731520"/>
          </a:xfrm>
          <a:prstGeom prst="roundRect">
            <a:avLst/>
          </a:prstGeom>
          <a:solidFill>
            <a:srgbClr val="132136"/>
          </a:solidFill>
          <a:ln w="12700">
            <a:solidFill>
              <a:srgbClr val="2E43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24928" y="2642616"/>
            <a:ext cx="10058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41D296"/>
                </a:solidFill>
                <a:latin typeface="Aptos"/>
              </a:rPr>
              <a:t>Pool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8458200" y="2788920"/>
            <a:ext cx="155448" cy="0"/>
          </a:xfrm>
          <a:prstGeom prst="line">
            <a:avLst/>
          </a:prstGeom>
          <a:ln w="25400">
            <a:solidFill>
              <a:srgbClr val="2E43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8677656" y="2423160"/>
            <a:ext cx="1005840" cy="731520"/>
          </a:xfrm>
          <a:prstGeom prst="roundRect">
            <a:avLst/>
          </a:prstGeom>
          <a:solidFill>
            <a:srgbClr val="132136"/>
          </a:solidFill>
          <a:ln w="12700">
            <a:solidFill>
              <a:srgbClr val="2E43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77656" y="2642616"/>
            <a:ext cx="10058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4C7BFF"/>
                </a:solidFill>
                <a:latin typeface="Aptos"/>
              </a:rPr>
              <a:t>Conv 64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9710928" y="2788920"/>
            <a:ext cx="155448" cy="0"/>
          </a:xfrm>
          <a:prstGeom prst="line">
            <a:avLst/>
          </a:prstGeom>
          <a:ln w="25400">
            <a:solidFill>
              <a:srgbClr val="2E43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9930384" y="2423160"/>
            <a:ext cx="1005840" cy="731520"/>
          </a:xfrm>
          <a:prstGeom prst="roundRect">
            <a:avLst/>
          </a:prstGeom>
          <a:solidFill>
            <a:srgbClr val="132136"/>
          </a:solidFill>
          <a:ln w="12700">
            <a:solidFill>
              <a:srgbClr val="2E43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930384" y="2642616"/>
            <a:ext cx="10058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41D296"/>
                </a:solidFill>
                <a:latin typeface="Aptos"/>
              </a:rPr>
              <a:t>Pool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10963656" y="2788920"/>
            <a:ext cx="155448" cy="0"/>
          </a:xfrm>
          <a:prstGeom prst="line">
            <a:avLst/>
          </a:prstGeom>
          <a:ln w="25400">
            <a:solidFill>
              <a:srgbClr val="2E43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11183112" y="2423160"/>
            <a:ext cx="1005840" cy="731520"/>
          </a:xfrm>
          <a:prstGeom prst="roundRect">
            <a:avLst/>
          </a:prstGeom>
          <a:solidFill>
            <a:srgbClr val="132136"/>
          </a:solidFill>
          <a:ln w="12700">
            <a:solidFill>
              <a:srgbClr val="2E43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183112" y="2642616"/>
            <a:ext cx="10058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F7A648"/>
                </a:solidFill>
                <a:latin typeface="Aptos"/>
              </a:rPr>
              <a:t>GAP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12216384" y="2788920"/>
            <a:ext cx="155448" cy="0"/>
          </a:xfrm>
          <a:prstGeom prst="line">
            <a:avLst/>
          </a:prstGeom>
          <a:ln w="25400">
            <a:solidFill>
              <a:srgbClr val="2E43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12435840" y="2423160"/>
            <a:ext cx="1234440" cy="731520"/>
          </a:xfrm>
          <a:prstGeom prst="roundRect">
            <a:avLst/>
          </a:prstGeom>
          <a:solidFill>
            <a:srgbClr val="132136"/>
          </a:solidFill>
          <a:ln w="12700">
            <a:solidFill>
              <a:srgbClr val="2E43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435840" y="2642616"/>
            <a:ext cx="12344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4C7BFF"/>
                </a:solidFill>
                <a:latin typeface="Aptos"/>
              </a:rPr>
              <a:t>Dense 128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13697712" y="2788920"/>
            <a:ext cx="155448" cy="0"/>
          </a:xfrm>
          <a:prstGeom prst="line">
            <a:avLst/>
          </a:prstGeom>
          <a:ln w="25400">
            <a:solidFill>
              <a:srgbClr val="2E43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13917168" y="2423160"/>
            <a:ext cx="1005840" cy="731520"/>
          </a:xfrm>
          <a:prstGeom prst="roundRect">
            <a:avLst/>
          </a:prstGeom>
          <a:solidFill>
            <a:srgbClr val="132136"/>
          </a:solidFill>
          <a:ln w="12700">
            <a:solidFill>
              <a:srgbClr val="2E43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3917168" y="2642616"/>
            <a:ext cx="10058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38D3E8"/>
                </a:solidFill>
                <a:latin typeface="Aptos"/>
              </a:rPr>
              <a:t>Softmax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172200" y="3794760"/>
            <a:ext cx="1645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A4B5C9"/>
                </a:solidFill>
                <a:latin typeface="Aptos"/>
              </a:rPr>
              <a:t>Benchmark →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726679" y="3703320"/>
            <a:ext cx="1920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38D3E8"/>
                </a:solidFill>
                <a:latin typeface="Aptos"/>
              </a:rPr>
              <a:t>69.87%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46920" y="3822191"/>
            <a:ext cx="1188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A4B5C9"/>
                </a:solidFill>
                <a:latin typeface="Aptos"/>
              </a:rPr>
              <a:t>test accuracy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94360" y="6492240"/>
            <a:ext cx="7315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A4B5C9"/>
                </a:solidFill>
                <a:latin typeface="Aptos"/>
              </a:rPr>
              <a:t>Team 2  •  Diagnostic Image Classification using CNNs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38D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4572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38D3E8"/>
                </a:solidFill>
                <a:latin typeface="Aptos"/>
              </a:rPr>
              <a:t>04  •  EXPERIMENTS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"/>
            <a:ext cx="10515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2F6FA"/>
                </a:solidFill>
                <a:latin typeface="Aptos Display"/>
              </a:rPr>
              <a:t>Controlled CNN experiments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384048"/>
            <a:ext cx="502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1">
                <a:solidFill>
                  <a:srgbClr val="A4B5C9"/>
                </a:solidFill>
                <a:latin typeface="Aptos"/>
              </a:rPr>
              <a:t>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417320"/>
            <a:ext cx="28346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A4B5C9"/>
                </a:solidFill>
                <a:latin typeface="Aptos"/>
              </a:rPr>
              <a:t>Experiment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520440" y="1417320"/>
            <a:ext cx="32918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A4B5C9"/>
                </a:solidFill>
                <a:latin typeface="Aptos"/>
              </a:rPr>
              <a:t>Why test it?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52360" y="1417320"/>
            <a:ext cx="14630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A4B5C9"/>
                </a:solidFill>
                <a:latin typeface="Aptos"/>
              </a:rPr>
              <a:t>Accuracy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98280" y="1417320"/>
            <a:ext cx="1828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A4B5C9"/>
                </a:solidFill>
                <a:latin typeface="Aptos"/>
              </a:rPr>
              <a:t>Change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847088"/>
            <a:ext cx="10927080" cy="713232"/>
          </a:xfrm>
          <a:prstGeom prst="roundRect">
            <a:avLst/>
          </a:prstGeom>
          <a:solidFill>
            <a:srgbClr val="18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048256"/>
            <a:ext cx="2514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F2F6FA"/>
                </a:solidFill>
                <a:latin typeface="Aptos"/>
              </a:rPr>
              <a:t>Baseline CNN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20440" y="2048256"/>
            <a:ext cx="32918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A4B5C9"/>
                </a:solidFill>
                <a:latin typeface="Aptos"/>
              </a:rPr>
              <a:t>Reference model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52360" y="2011680"/>
            <a:ext cx="1417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38D3E8"/>
                </a:solidFill>
                <a:latin typeface="Aptos"/>
              </a:rPr>
              <a:t>69.87%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98280" y="2029968"/>
            <a:ext cx="1645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38D3E8"/>
                </a:solidFill>
                <a:latin typeface="Aptos"/>
              </a:rPr>
              <a:t>—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" y="2761488"/>
            <a:ext cx="10927080" cy="713232"/>
          </a:xfrm>
          <a:prstGeom prst="roundRect">
            <a:avLst/>
          </a:prstGeom>
          <a:solidFill>
            <a:srgbClr val="18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2962656"/>
            <a:ext cx="2514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F2F6FA"/>
                </a:solidFill>
                <a:latin typeface="Aptos"/>
              </a:rPr>
              <a:t>Data augmentation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20440" y="2962656"/>
            <a:ext cx="32918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A4B5C9"/>
                </a:solidFill>
                <a:latin typeface="Aptos"/>
              </a:rPr>
              <a:t>Improve robustness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52360" y="2926080"/>
            <a:ext cx="1417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41D296"/>
                </a:solidFill>
                <a:latin typeface="Aptos"/>
              </a:rPr>
              <a:t>77.88%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98280" y="2944368"/>
            <a:ext cx="1645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41D296"/>
                </a:solidFill>
                <a:latin typeface="Aptos"/>
              </a:rPr>
              <a:t>+8.01 pp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" y="3675887"/>
            <a:ext cx="10927080" cy="713232"/>
          </a:xfrm>
          <a:prstGeom prst="roundRect">
            <a:avLst/>
          </a:prstGeom>
          <a:solidFill>
            <a:srgbClr val="18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8680" y="3877055"/>
            <a:ext cx="2514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F2F6FA"/>
                </a:solidFill>
                <a:latin typeface="Aptos"/>
              </a:rPr>
              <a:t>Batch normalization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20440" y="3877055"/>
            <a:ext cx="32918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A4B5C9"/>
                </a:solidFill>
                <a:latin typeface="Aptos"/>
              </a:rPr>
              <a:t>Stabilize training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52360" y="3840479"/>
            <a:ext cx="1417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0646E"/>
                </a:solidFill>
                <a:latin typeface="Aptos"/>
              </a:rPr>
              <a:t>62.50%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98280" y="3858768"/>
            <a:ext cx="1645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0646E"/>
                </a:solidFill>
                <a:latin typeface="Aptos"/>
              </a:rPr>
              <a:t>−7.37 pp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4709160"/>
            <a:ext cx="10927080" cy="841248"/>
          </a:xfrm>
          <a:prstGeom prst="roundRect">
            <a:avLst/>
          </a:prstGeom>
          <a:solidFill>
            <a:srgbClr val="16202F"/>
          </a:solidFill>
          <a:ln w="12700">
            <a:solidFill>
              <a:srgbClr val="F7A6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68680" y="4919472"/>
            <a:ext cx="16459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F7A648"/>
                </a:solidFill>
                <a:latin typeface="Aptos"/>
              </a:rPr>
              <a:t>REQUIRED EXPERIMENT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514600" y="4855464"/>
            <a:ext cx="3291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2F6FA"/>
                </a:solidFill>
                <a:latin typeface="Aptos"/>
              </a:rPr>
              <a:t>Kernel / filter-size comparison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806440" y="4855464"/>
            <a:ext cx="534924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A4B5C9"/>
                </a:solidFill>
                <a:latin typeface="Aptos"/>
              </a:rPr>
              <a:t>Run before final presentation; current notebook does not report these results.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4360" y="6492240"/>
            <a:ext cx="7315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A4B5C9"/>
                </a:solidFill>
                <a:latin typeface="Aptos"/>
              </a:rPr>
              <a:t>Team 2  •  Diagnostic Image Classification using CNNs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38D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4572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38D3E8"/>
                </a:solidFill>
                <a:latin typeface="Aptos"/>
              </a:rPr>
              <a:t>05  •  LEARNING CURVES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"/>
            <a:ext cx="10515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2F6FA"/>
                </a:solidFill>
                <a:latin typeface="Aptos Display"/>
              </a:rPr>
              <a:t>Training behaviour &amp; generalization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384048"/>
            <a:ext cx="502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1">
                <a:solidFill>
                  <a:srgbClr val="A4B5C9"/>
                </a:solidFill>
                <a:latin typeface="Aptos"/>
              </a:rPr>
              <a:t>06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658368" y="1508760"/>
          <a:ext cx="6675120" cy="41605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7726679" y="1572768"/>
            <a:ext cx="3703320" cy="1234440"/>
          </a:xfrm>
          <a:prstGeom prst="roundRect">
            <a:avLst/>
          </a:prstGeom>
          <a:solidFill>
            <a:srgbClr val="18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73568" y="1792224"/>
            <a:ext cx="1554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38D3E8"/>
                </a:solidFill>
                <a:latin typeface="Aptos"/>
              </a:rPr>
              <a:t>Observed pattern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73568" y="2084831"/>
            <a:ext cx="306324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F2F6FA"/>
                </a:solidFill>
                <a:latin typeface="Aptos"/>
              </a:rPr>
              <a:t>Training accuracy stays above validation accuracy.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26679" y="2999232"/>
            <a:ext cx="3703320" cy="1234440"/>
          </a:xfrm>
          <a:prstGeom prst="roundRect">
            <a:avLst/>
          </a:prstGeom>
          <a:solidFill>
            <a:srgbClr val="18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73568" y="3218688"/>
            <a:ext cx="1371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F7A648"/>
                </a:solidFill>
                <a:latin typeface="Aptos"/>
              </a:rPr>
              <a:t>Interpretation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73568" y="3511296"/>
            <a:ext cx="30632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F2F6FA"/>
                </a:solidFill>
                <a:latin typeface="Aptos"/>
              </a:rPr>
              <a:t>The gap suggests limited generalization / possible overfitting.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26679" y="4425696"/>
            <a:ext cx="3703320" cy="960120"/>
          </a:xfrm>
          <a:prstGeom prst="roundRect">
            <a:avLst/>
          </a:prstGeom>
          <a:solidFill>
            <a:srgbClr val="16202F"/>
          </a:solidFill>
          <a:ln w="12700">
            <a:solidFill>
              <a:srgbClr val="F064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73568" y="4617720"/>
            <a:ext cx="15544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F0646E"/>
                </a:solidFill>
                <a:latin typeface="Aptos"/>
              </a:rPr>
              <a:t>Presentation note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73568" y="4855464"/>
            <a:ext cx="30632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A4B5C9"/>
                </a:solidFill>
                <a:latin typeface="Aptos"/>
              </a:rPr>
              <a:t>Replace this illustrative curve with the actual training history after rerunning the notebook.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6492240"/>
            <a:ext cx="7315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A4B5C9"/>
                </a:solidFill>
                <a:latin typeface="Aptos"/>
              </a:rPr>
              <a:t>Team 2  •  Diagnostic Image Classification using CNNs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38D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4572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38D3E8"/>
                </a:solidFill>
                <a:latin typeface="Aptos"/>
              </a:rPr>
              <a:t>06  • 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"/>
            <a:ext cx="10515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2F6FA"/>
                </a:solidFill>
                <a:latin typeface="Aptos Display"/>
              </a:rPr>
              <a:t>Model comparison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384048"/>
            <a:ext cx="502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1">
                <a:solidFill>
                  <a:srgbClr val="A4B5C9"/>
                </a:solidFill>
                <a:latin typeface="Aptos"/>
              </a:rPr>
              <a:t>07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658368" y="1417320"/>
          <a:ext cx="7543800" cy="45262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8549640" y="1554480"/>
            <a:ext cx="2834640" cy="4206240"/>
          </a:xfrm>
          <a:prstGeom prst="roundRect">
            <a:avLst/>
          </a:prstGeom>
          <a:solidFill>
            <a:srgbClr val="18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823960" y="1847088"/>
            <a:ext cx="2286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A4B5C9"/>
                </a:solidFill>
                <a:latin typeface="Aptos"/>
              </a:rPr>
              <a:t>BEST OBSERVED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23960" y="2212848"/>
            <a:ext cx="22860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38D3E8"/>
                </a:solidFill>
                <a:latin typeface="Aptos"/>
              </a:rPr>
              <a:t>DenseNet121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23960" y="2724912"/>
            <a:ext cx="22860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F2F6FA"/>
                </a:solidFill>
                <a:latin typeface="Aptos Display"/>
              </a:rPr>
              <a:t>86.38%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23960" y="3310128"/>
            <a:ext cx="20116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A4B5C9"/>
                </a:solidFill>
                <a:latin typeface="Aptos"/>
              </a:rPr>
              <a:t>test accuracy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23960" y="3913632"/>
            <a:ext cx="2103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41D296"/>
                </a:solidFill>
                <a:latin typeface="Aptos"/>
              </a:rPr>
              <a:t>+16.51 pp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23960" y="4315968"/>
            <a:ext cx="2103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A4B5C9"/>
                </a:solidFill>
                <a:latin typeface="Aptos"/>
              </a:rPr>
              <a:t>vs baseline CNN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23960" y="4800600"/>
            <a:ext cx="224028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F2F6FA"/>
                </a:solidFill>
                <a:latin typeface="Aptos"/>
              </a:rPr>
              <a:t>Highest observed performance among the evaluated models.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6492240"/>
            <a:ext cx="7315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A4B5C9"/>
                </a:solidFill>
                <a:latin typeface="Aptos"/>
              </a:rPr>
              <a:t>Team 2  •  Diagnostic Image Classification using CNNs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38D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4572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38D3E8"/>
                </a:solidFill>
                <a:latin typeface="Aptos"/>
              </a:rPr>
              <a:t>07  •  EVALUATION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"/>
            <a:ext cx="10515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2F6FA"/>
                </a:solidFill>
                <a:latin typeface="Aptos Display"/>
              </a:rPr>
              <a:t>Best model: DenseNet121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384048"/>
            <a:ext cx="502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1">
                <a:solidFill>
                  <a:srgbClr val="A4B5C9"/>
                </a:solidFill>
                <a:latin typeface="Aptos"/>
              </a:rPr>
              <a:t>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417320"/>
            <a:ext cx="30175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>
                <a:solidFill>
                  <a:srgbClr val="38D3E8"/>
                </a:solidFill>
                <a:latin typeface="Aptos Display"/>
              </a:rPr>
              <a:t>86.38%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029968"/>
            <a:ext cx="2194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A4B5C9"/>
                </a:solidFill>
                <a:latin typeface="Aptos"/>
              </a:rPr>
              <a:t>TEST ACCURACY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514600"/>
            <a:ext cx="411480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F2F6FA"/>
                </a:solidFill>
                <a:latin typeface="Aptos"/>
              </a:rPr>
              <a:t>Confusion matrix and class-wise metrics should accompany accuracy before final submission.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83480" y="1417320"/>
            <a:ext cx="2743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A4B5C9"/>
                </a:solidFill>
                <a:latin typeface="Aptos"/>
              </a:rPr>
              <a:t>CONFUSION MATRIX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74920" y="1874519"/>
            <a:ext cx="1170432" cy="1170432"/>
          </a:xfrm>
          <a:prstGeom prst="roundRect">
            <a:avLst/>
          </a:prstGeom>
          <a:solidFill>
            <a:srgbClr val="41D296"/>
          </a:solidFill>
          <a:ln w="12700">
            <a:solidFill>
              <a:srgbClr val="2E43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74920" y="2075688"/>
            <a:ext cx="117043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A4B5C9"/>
                </a:solidFill>
                <a:latin typeface="Aptos"/>
              </a:rPr>
              <a:t>TN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74920" y="2395727"/>
            <a:ext cx="117043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F2F6FA"/>
                </a:solidFill>
                <a:latin typeface="Aptos"/>
              </a:rPr>
              <a:t>—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73368" y="1874519"/>
            <a:ext cx="1170432" cy="1170432"/>
          </a:xfrm>
          <a:prstGeom prst="roundRect">
            <a:avLst/>
          </a:prstGeom>
          <a:solidFill>
            <a:srgbClr val="352C34"/>
          </a:solidFill>
          <a:ln w="12700">
            <a:solidFill>
              <a:srgbClr val="2E43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73368" y="2075688"/>
            <a:ext cx="117043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A4B5C9"/>
                </a:solidFill>
                <a:latin typeface="Aptos"/>
              </a:rPr>
              <a:t>FP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73368" y="2395727"/>
            <a:ext cx="117043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F2F6FA"/>
                </a:solidFill>
                <a:latin typeface="Aptos"/>
              </a:rPr>
              <a:t>—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74920" y="3172968"/>
            <a:ext cx="1170432" cy="1170432"/>
          </a:xfrm>
          <a:prstGeom prst="roundRect">
            <a:avLst/>
          </a:prstGeom>
          <a:solidFill>
            <a:srgbClr val="352C34"/>
          </a:solidFill>
          <a:ln w="12700">
            <a:solidFill>
              <a:srgbClr val="2E43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74920" y="3374136"/>
            <a:ext cx="117043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A4B5C9"/>
                </a:solidFill>
                <a:latin typeface="Aptos"/>
              </a:rPr>
              <a:t>FN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74920" y="3694176"/>
            <a:ext cx="117043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F2F6FA"/>
                </a:solidFill>
                <a:latin typeface="Aptos"/>
              </a:rPr>
              <a:t>—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73368" y="3172968"/>
            <a:ext cx="1170432" cy="1170432"/>
          </a:xfrm>
          <a:prstGeom prst="roundRect">
            <a:avLst/>
          </a:prstGeom>
          <a:solidFill>
            <a:srgbClr val="41D296"/>
          </a:solidFill>
          <a:ln w="12700">
            <a:solidFill>
              <a:srgbClr val="2E43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73368" y="3374136"/>
            <a:ext cx="117043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A4B5C9"/>
                </a:solidFill>
                <a:latin typeface="Aptos"/>
              </a:rPr>
              <a:t>TP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73368" y="3694176"/>
            <a:ext cx="117043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F2F6FA"/>
                </a:solidFill>
                <a:latin typeface="Aptos"/>
              </a:rPr>
              <a:t>—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532120" y="4553712"/>
            <a:ext cx="19202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A4B5C9"/>
                </a:solidFill>
                <a:latin typeface="Aptos"/>
              </a:rPr>
              <a:t>Predicted →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15968" y="2880360"/>
            <a:ext cx="5943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A4B5C9"/>
                </a:solidFill>
                <a:latin typeface="Aptos"/>
              </a:rPr>
              <a:t>Actual ↓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229600" y="1508760"/>
            <a:ext cx="3063240" cy="3886200"/>
          </a:xfrm>
          <a:prstGeom prst="roundRect">
            <a:avLst/>
          </a:prstGeom>
          <a:solidFill>
            <a:srgbClr val="18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485632" y="1783080"/>
            <a:ext cx="24688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A4B5C9"/>
                </a:solidFill>
                <a:latin typeface="Aptos"/>
              </a:rPr>
              <a:t>CLASS-WISE METRICS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03920" y="2331720"/>
            <a:ext cx="1188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F2F6FA"/>
                </a:solidFill>
                <a:latin typeface="Aptos"/>
              </a:rPr>
              <a:t>Precision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241280" y="2331720"/>
            <a:ext cx="5943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500" b="1">
                <a:solidFill>
                  <a:srgbClr val="38D3E8"/>
                </a:solidFill>
                <a:latin typeface="Aptos"/>
              </a:rPr>
              <a:t>—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03920" y="3063240"/>
            <a:ext cx="1188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F2F6FA"/>
                </a:solidFill>
                <a:latin typeface="Aptos"/>
              </a:rPr>
              <a:t>Recall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241280" y="3063240"/>
            <a:ext cx="5943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500" b="1">
                <a:solidFill>
                  <a:srgbClr val="38D3E8"/>
                </a:solidFill>
                <a:latin typeface="Aptos"/>
              </a:rPr>
              <a:t>—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503920" y="3794760"/>
            <a:ext cx="1188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F2F6FA"/>
                </a:solidFill>
                <a:latin typeface="Aptos"/>
              </a:rPr>
              <a:t>F1-score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241280" y="3794760"/>
            <a:ext cx="5943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500" b="1">
                <a:solidFill>
                  <a:srgbClr val="38D3E8"/>
                </a:solidFill>
                <a:latin typeface="Aptos"/>
              </a:rPr>
              <a:t>—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503920" y="4617720"/>
            <a:ext cx="24231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A4B5C9"/>
                </a:solidFill>
                <a:latin typeface="Aptos"/>
              </a:rPr>
              <a:t>Generate these values from the final DenseNet121 predictions.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94360" y="6492240"/>
            <a:ext cx="7315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A4B5C9"/>
                </a:solidFill>
                <a:latin typeface="Aptos"/>
              </a:rPr>
              <a:t>Team 2  •  Diagnostic Image Classification using CNNs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38D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4572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38D3E8"/>
                </a:solidFill>
                <a:latin typeface="Aptos"/>
              </a:rPr>
              <a:t>08  •  INTERPRETATION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"/>
            <a:ext cx="10515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2F6FA"/>
                </a:solidFill>
                <a:latin typeface="Aptos Display"/>
              </a:rPr>
              <a:t>Seeing what the model learns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384048"/>
            <a:ext cx="502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1">
                <a:solidFill>
                  <a:srgbClr val="A4B5C9"/>
                </a:solidFill>
                <a:latin typeface="Aptos"/>
              </a:rPr>
              <a:t>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417320"/>
            <a:ext cx="2286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A4B5C9"/>
                </a:solidFill>
                <a:latin typeface="Aptos"/>
              </a:rPr>
              <a:t>FEATURE MAPS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874519"/>
            <a:ext cx="1508760" cy="2423160"/>
          </a:xfrm>
          <a:prstGeom prst="roundRect">
            <a:avLst/>
          </a:prstGeom>
          <a:solidFill>
            <a:srgbClr val="080F1A"/>
          </a:solidFill>
          <a:ln w="12700">
            <a:solidFill>
              <a:srgbClr val="2E43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3886200"/>
            <a:ext cx="15087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>
                <a:solidFill>
                  <a:srgbClr val="38D3E8"/>
                </a:solidFill>
                <a:latin typeface="Aptos"/>
              </a:rPr>
              <a:t>INPUT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651760" y="1874519"/>
            <a:ext cx="822960" cy="987552"/>
          </a:xfrm>
          <a:prstGeom prst="roundRect">
            <a:avLst/>
          </a:prstGeom>
          <a:solidFill>
            <a:srgbClr val="1C2737"/>
          </a:solidFill>
          <a:ln w="12700">
            <a:solidFill>
              <a:srgbClr val="2E43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651760" y="2212848"/>
            <a:ext cx="8229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F2F6FA"/>
                </a:solidFill>
                <a:latin typeface="Aptos"/>
              </a:rPr>
              <a:t>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39312" y="1874519"/>
            <a:ext cx="822960" cy="987552"/>
          </a:xfrm>
          <a:prstGeom prst="roundRect">
            <a:avLst/>
          </a:prstGeom>
          <a:solidFill>
            <a:srgbClr val="24273D"/>
          </a:solidFill>
          <a:ln w="12700">
            <a:solidFill>
              <a:srgbClr val="2E43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39312" y="2212848"/>
            <a:ext cx="8229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F2F6FA"/>
                </a:solidFill>
                <a:latin typeface="Aptos"/>
              </a:rPr>
              <a:t>2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26864" y="1874519"/>
            <a:ext cx="822960" cy="987552"/>
          </a:xfrm>
          <a:prstGeom prst="roundRect">
            <a:avLst/>
          </a:prstGeom>
          <a:solidFill>
            <a:srgbClr val="2C2743"/>
          </a:solidFill>
          <a:ln w="12700">
            <a:solidFill>
              <a:srgbClr val="2E43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26864" y="2212848"/>
            <a:ext cx="8229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F2F6FA"/>
                </a:solidFill>
                <a:latin typeface="Aptos"/>
              </a:rPr>
              <a:t>3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651760" y="3136391"/>
            <a:ext cx="822960" cy="987552"/>
          </a:xfrm>
          <a:prstGeom prst="roundRect">
            <a:avLst/>
          </a:prstGeom>
          <a:solidFill>
            <a:srgbClr val="1C2E37"/>
          </a:solidFill>
          <a:ln w="12700">
            <a:solidFill>
              <a:srgbClr val="2E43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651760" y="3474720"/>
            <a:ext cx="8229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F2F6FA"/>
                </a:solidFill>
                <a:latin typeface="Aptos"/>
              </a:rPr>
              <a:t>4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639312" y="3136391"/>
            <a:ext cx="822960" cy="987552"/>
          </a:xfrm>
          <a:prstGeom prst="roundRect">
            <a:avLst/>
          </a:prstGeom>
          <a:solidFill>
            <a:srgbClr val="242E3D"/>
          </a:solidFill>
          <a:ln w="12700">
            <a:solidFill>
              <a:srgbClr val="2E43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39312" y="3474720"/>
            <a:ext cx="8229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F2F6FA"/>
                </a:solidFill>
                <a:latin typeface="Aptos"/>
              </a:rPr>
              <a:t>5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626864" y="3136391"/>
            <a:ext cx="822960" cy="987552"/>
          </a:xfrm>
          <a:prstGeom prst="roundRect">
            <a:avLst/>
          </a:prstGeom>
          <a:solidFill>
            <a:srgbClr val="2C2E43"/>
          </a:solidFill>
          <a:ln w="12700">
            <a:solidFill>
              <a:srgbClr val="2E43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626864" y="3474720"/>
            <a:ext cx="8229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F2F6FA"/>
                </a:solidFill>
                <a:latin typeface="Aptos"/>
              </a:rPr>
              <a:t>6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2267712" y="3063240"/>
            <a:ext cx="310896" cy="0"/>
          </a:xfrm>
          <a:prstGeom prst="line">
            <a:avLst/>
          </a:prstGeom>
          <a:ln w="25400">
            <a:solidFill>
              <a:srgbClr val="38D3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2651760" y="4434840"/>
            <a:ext cx="3840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A4B5C9"/>
                </a:solidFill>
                <a:latin typeface="Aptos"/>
              </a:rPr>
              <a:t>Early layers transform the X-ray into feature representations.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29400" y="1417320"/>
            <a:ext cx="3200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A4B5C9"/>
                </a:solidFill>
                <a:latin typeface="Aptos"/>
              </a:rPr>
              <a:t>MISCLASSIFIED EXAMPLES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629400" y="1874519"/>
            <a:ext cx="2148840" cy="2423160"/>
          </a:xfrm>
          <a:prstGeom prst="roundRect">
            <a:avLst/>
          </a:prstGeom>
          <a:solidFill>
            <a:srgbClr val="182A43"/>
          </a:solidFill>
          <a:ln w="12700">
            <a:solidFill>
              <a:srgbClr val="2E43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949440" y="2148840"/>
            <a:ext cx="1508760" cy="1325880"/>
          </a:xfrm>
          <a:prstGeom prst="roundRect">
            <a:avLst/>
          </a:prstGeom>
          <a:solidFill>
            <a:srgbClr val="2A3748"/>
          </a:solidFill>
          <a:ln w="12700">
            <a:solidFill>
              <a:srgbClr val="2E43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949440" y="2670048"/>
            <a:ext cx="15087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A4B5C9"/>
                </a:solidFill>
                <a:latin typeface="Aptos"/>
              </a:rPr>
              <a:t>X-RAY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30568" y="3675887"/>
            <a:ext cx="17830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50" b="1">
                <a:solidFill>
                  <a:srgbClr val="F2F6FA"/>
                </a:solidFill>
                <a:latin typeface="Aptos"/>
              </a:rPr>
              <a:t>Actual: PNEUMONIA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30568" y="3995928"/>
            <a:ext cx="17830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50" b="1">
                <a:solidFill>
                  <a:srgbClr val="F0646E"/>
                </a:solidFill>
                <a:latin typeface="Aptos"/>
              </a:rPr>
              <a:t>Predicted: NORMAL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052560" y="1874519"/>
            <a:ext cx="2148840" cy="2423160"/>
          </a:xfrm>
          <a:prstGeom prst="roundRect">
            <a:avLst/>
          </a:prstGeom>
          <a:solidFill>
            <a:srgbClr val="182A43"/>
          </a:solidFill>
          <a:ln w="12700">
            <a:solidFill>
              <a:srgbClr val="2E43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9372600" y="2148840"/>
            <a:ext cx="1508760" cy="1325880"/>
          </a:xfrm>
          <a:prstGeom prst="roundRect">
            <a:avLst/>
          </a:prstGeom>
          <a:solidFill>
            <a:srgbClr val="2A3748"/>
          </a:solidFill>
          <a:ln w="12700">
            <a:solidFill>
              <a:srgbClr val="2E43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372600" y="2670048"/>
            <a:ext cx="15087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A4B5C9"/>
                </a:solidFill>
                <a:latin typeface="Aptos"/>
              </a:rPr>
              <a:t>X-RAY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253728" y="3675887"/>
            <a:ext cx="17830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50" b="1">
                <a:solidFill>
                  <a:srgbClr val="F2F6FA"/>
                </a:solidFill>
                <a:latin typeface="Aptos"/>
              </a:rPr>
              <a:t>Actual: NORMAL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253728" y="3995928"/>
            <a:ext cx="17830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50" b="1">
                <a:solidFill>
                  <a:srgbClr val="F7A648"/>
                </a:solidFill>
                <a:latin typeface="Aptos"/>
              </a:rPr>
              <a:t>Predicted: PNEUMONIA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629400" y="4800600"/>
            <a:ext cx="45720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A4B5C9"/>
                </a:solidFill>
                <a:latin typeface="Aptos"/>
              </a:rPr>
              <a:t>Replace placeholders with real feature maps and misclassified X-rays from the test set.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94360" y="6492240"/>
            <a:ext cx="7315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A4B5C9"/>
                </a:solidFill>
                <a:latin typeface="Aptos"/>
              </a:rPr>
              <a:t>Team 2  •  Diagnostic Image Classification using CNNs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38D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4572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38D3E8"/>
                </a:solidFill>
                <a:latin typeface="Aptos"/>
              </a:rPr>
              <a:t>09  •  TAKEAWAYS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0080"/>
            <a:ext cx="10515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2F6FA"/>
                </a:solidFill>
                <a:latin typeface="Aptos Display"/>
              </a:rPr>
              <a:t>Conclusion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384048"/>
            <a:ext cx="502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1">
                <a:solidFill>
                  <a:srgbClr val="A4B5C9"/>
                </a:solidFill>
                <a:latin typeface="Aptos"/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371600"/>
            <a:ext cx="1033272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F2F6FA"/>
                </a:solidFill>
                <a:latin typeface="Aptos"/>
              </a:rPr>
              <a:t>The experiments show a progression from a simple CNN benchmark to stronger transfer-learning performance.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2514600"/>
            <a:ext cx="5074920" cy="1143000"/>
          </a:xfrm>
          <a:prstGeom prst="roundRect">
            <a:avLst/>
          </a:prstGeom>
          <a:solidFill>
            <a:srgbClr val="182A43"/>
          </a:solidFill>
          <a:ln w="12700">
            <a:solidFill>
              <a:srgbClr val="2E43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9536" y="2743200"/>
            <a:ext cx="411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38D3E8"/>
                </a:solidFill>
                <a:latin typeface="Aptos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08176" y="2679192"/>
            <a:ext cx="1508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38D3E8"/>
                </a:solidFill>
                <a:latin typeface="Aptos"/>
              </a:rPr>
              <a:t>Baseline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3017520"/>
            <a:ext cx="38862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F2F6FA"/>
                </a:solidFill>
                <a:latin typeface="Aptos"/>
              </a:rPr>
              <a:t>Custom CNN established a 69.87% benchmark.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0488" y="2514600"/>
            <a:ext cx="5074920" cy="1143000"/>
          </a:xfrm>
          <a:prstGeom prst="roundRect">
            <a:avLst/>
          </a:prstGeom>
          <a:solidFill>
            <a:srgbClr val="182A43"/>
          </a:solidFill>
          <a:ln w="12700">
            <a:solidFill>
              <a:srgbClr val="2E43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91655" y="2743200"/>
            <a:ext cx="411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41D296"/>
                </a:solidFill>
                <a:latin typeface="Aptos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40296" y="2679192"/>
            <a:ext cx="1508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41D296"/>
                </a:solidFill>
                <a:latin typeface="Aptos"/>
              </a:rPr>
              <a:t>Augmentation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40296" y="3017520"/>
            <a:ext cx="38862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F2F6FA"/>
                </a:solidFill>
                <a:latin typeface="Aptos"/>
              </a:rPr>
              <a:t>Improved test accuracy to 77.88%.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" y="3931920"/>
            <a:ext cx="5074920" cy="1143000"/>
          </a:xfrm>
          <a:prstGeom prst="roundRect">
            <a:avLst/>
          </a:prstGeom>
          <a:solidFill>
            <a:srgbClr val="182A43"/>
          </a:solidFill>
          <a:ln w="12700">
            <a:solidFill>
              <a:srgbClr val="2E43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9536" y="4160520"/>
            <a:ext cx="411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F0646E"/>
                </a:solidFill>
                <a:latin typeface="Aptos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08176" y="4096511"/>
            <a:ext cx="1508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0646E"/>
                </a:solidFill>
                <a:latin typeface="Aptos"/>
              </a:rPr>
              <a:t>BatchNorm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4434840"/>
            <a:ext cx="38862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F2F6FA"/>
                </a:solidFill>
                <a:latin typeface="Aptos"/>
              </a:rPr>
              <a:t>Did not improve the tested configuration.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90488" y="3931920"/>
            <a:ext cx="5074920" cy="1143000"/>
          </a:xfrm>
          <a:prstGeom prst="roundRect">
            <a:avLst/>
          </a:prstGeom>
          <a:solidFill>
            <a:srgbClr val="182A43"/>
          </a:solidFill>
          <a:ln w="12700">
            <a:solidFill>
              <a:srgbClr val="2E43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91655" y="4160520"/>
            <a:ext cx="411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F7A648"/>
                </a:solidFill>
                <a:latin typeface="Aptos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40296" y="4096511"/>
            <a:ext cx="1508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7A648"/>
                </a:solidFill>
                <a:latin typeface="Aptos"/>
              </a:rPr>
              <a:t>Best observed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40296" y="4434840"/>
            <a:ext cx="38862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F2F6FA"/>
                </a:solidFill>
                <a:latin typeface="Aptos"/>
              </a:rPr>
              <a:t>DenseNet121 reached 86.38% test accuracy.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58368" y="5486400"/>
            <a:ext cx="10607040" cy="640080"/>
          </a:xfrm>
          <a:prstGeom prst="roundRect">
            <a:avLst/>
          </a:prstGeom>
          <a:solidFill>
            <a:srgbClr val="121F31"/>
          </a:solidFill>
          <a:ln w="12700">
            <a:solidFill>
              <a:srgbClr val="38D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68680" y="5687568"/>
            <a:ext cx="101955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>
                <a:solidFill>
                  <a:srgbClr val="F2F6FA"/>
                </a:solidFill>
                <a:latin typeface="Aptos"/>
              </a:rPr>
              <a:t>FINAL TAKEAWAY  •  DenseNet121 was the highest-performing evaluated model; final interpretation should also consider recall, F1 and error patterns.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" y="6492240"/>
            <a:ext cx="7315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A4B5C9"/>
                </a:solidFill>
                <a:latin typeface="Aptos"/>
              </a:rPr>
              <a:t>Team 2  •  Diagnostic Image Classification using CNNs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